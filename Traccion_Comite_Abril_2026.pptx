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gifted-amazing-babbage/work/cover_clean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345375" y="41148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5C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años construyendo más que edificios,</a:t>
            </a:r>
            <a:endParaRPr lang="en-US" sz="1200" dirty="0"/>
          </a:p>
          <a:p>
            <a:pPr algn="r" indent="0" marL="0">
              <a:buNone/>
            </a:pPr>
            <a:r>
              <a:rPr lang="en-US" sz="1200" i="1" dirty="0">
                <a:solidFill>
                  <a:srgbClr val="5C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construyendo historias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2651760"/>
            <a:ext cx="6583680" cy="2103120"/>
          </a:xfrm>
          <a:prstGeom prst="rect">
            <a:avLst/>
          </a:prstGeom>
          <a:solidFill>
            <a:srgbClr val="5C0D0D"/>
          </a:solidFill>
          <a:ln/>
        </p:spPr>
      </p:sp>
      <p:sp>
        <p:nvSpPr>
          <p:cNvPr id="6" name="Shape 3"/>
          <p:cNvSpPr/>
          <p:nvPr/>
        </p:nvSpPr>
        <p:spPr>
          <a:xfrm>
            <a:off x="0" y="2651760"/>
            <a:ext cx="137160" cy="2103120"/>
          </a:xfrm>
          <a:prstGeom prst="rect">
            <a:avLst/>
          </a:prstGeom>
          <a:solidFill>
            <a:srgbClr val="B89047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2743200"/>
            <a:ext cx="5760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spc="4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TRACCIÓN</a:t>
            </a:r>
            <a:endParaRPr lang="en-US" sz="5600" dirty="0"/>
          </a:p>
        </p:txBody>
      </p:sp>
      <p:sp>
        <p:nvSpPr>
          <p:cNvPr id="8" name="Text 5"/>
          <p:cNvSpPr/>
          <p:nvPr/>
        </p:nvSpPr>
        <p:spPr>
          <a:xfrm>
            <a:off x="640080" y="374904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F5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propia de gestión EOS para IC Constructora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0080" y="420624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300" kern="0" dirty="0">
                <a:solidFill>
                  <a:srgbClr val="B89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Comité Gerentes  ·  Desarrollo  ·  Abril 2026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55321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5E5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Santa Marta   ·   Bogotá D.C.   ·   Jamundí   ·   Floridablanca   ·   Madrid   ·   Zipaquirá   ·   Pereira   ·   Cali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48640" y="59436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B0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www.icconstructora.co</a:t>
            </a:r>
            <a:endParaRPr lang="en-US" sz="1000" dirty="0"/>
          </a:p>
        </p:txBody>
      </p:sp>
      <p:pic>
        <p:nvPicPr>
          <p:cNvPr id="12" name="Image 1" descr="/sessions/gifted-amazing-babbage/work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5855" y="5806440"/>
            <a:ext cx="82296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695" y="29260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5C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— Tracción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658368"/>
            <a:ext cx="11094415" cy="0"/>
          </a:xfrm>
          <a:prstGeom prst="line">
            <a:avLst/>
          </a:prstGeom>
          <a:noFill/>
          <a:ln w="12700">
            <a:solidFill>
              <a:srgbClr val="5C0D0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686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¿Por qué una plataforma propia?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52704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B0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reto que nos planteó la junta y la respuesta que estamos construyendo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84048" y="978408"/>
            <a:ext cx="54864" cy="457200"/>
          </a:xfrm>
          <a:prstGeom prst="rect">
            <a:avLst/>
          </a:prstGeom>
          <a:solidFill>
            <a:srgbClr val="6B0E0E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057400"/>
            <a:ext cx="5364328" cy="3840480"/>
          </a:xfrm>
          <a:prstGeom prst="rect">
            <a:avLst/>
          </a:prstGeom>
          <a:solidFill>
            <a:srgbClr val="F5EFEA"/>
          </a:solidFill>
          <a:ln w="9525">
            <a:solidFill>
              <a:srgbClr val="CFC4B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057400"/>
            <a:ext cx="73152" cy="3840480"/>
          </a:xfrm>
          <a:prstGeom prst="rect">
            <a:avLst/>
          </a:prstGeom>
          <a:solidFill>
            <a:srgbClr val="6B0E0E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331720"/>
            <a:ext cx="490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0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RETO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2697480"/>
            <a:ext cx="4907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Romper los silos y gestionar por procesos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68680" y="3429000"/>
            <a:ext cx="481568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Mapear los procesos clave de la compañía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leading indicators que predigan el resultado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dueños de proceso con accountability real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Tener un único tablero de control para la junta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SharePoint, CBR y los flujos de datos existentes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78728" y="2057400"/>
            <a:ext cx="5364328" cy="3840480"/>
          </a:xfrm>
          <a:prstGeom prst="rect">
            <a:avLst/>
          </a:prstGeom>
          <a:solidFill>
            <a:srgbClr val="5C0D0D"/>
          </a:solidFill>
          <a:ln/>
        </p:spPr>
      </p:sp>
      <p:sp>
        <p:nvSpPr>
          <p:cNvPr id="13" name="Shape 11"/>
          <p:cNvSpPr/>
          <p:nvPr/>
        </p:nvSpPr>
        <p:spPr>
          <a:xfrm>
            <a:off x="6278728" y="2057400"/>
            <a:ext cx="73152" cy="3840480"/>
          </a:xfrm>
          <a:prstGeom prst="rect">
            <a:avLst/>
          </a:prstGeom>
          <a:solidFill>
            <a:srgbClr val="B89047"/>
          </a:solidFill>
          <a:ln/>
        </p:spPr>
      </p:sp>
      <p:sp>
        <p:nvSpPr>
          <p:cNvPr id="14" name="Text 12"/>
          <p:cNvSpPr/>
          <p:nvPr/>
        </p:nvSpPr>
        <p:spPr>
          <a:xfrm>
            <a:off x="6598768" y="2331720"/>
            <a:ext cx="4907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9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NUESTRA RESPUESTA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98768" y="2697480"/>
            <a:ext cx="49071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Tracción: el sistema operativo de IC Constructora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598768" y="3657600"/>
            <a:ext cx="481568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5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web propia, basada en el modelo EOS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5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nativos para gestionar procesos, KPIs y reuniones L10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5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específicos de IC: Lotes, RRHH y Jurídico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5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 Indicadores (IA sobre CBR) y Total (análisis de planos con IA)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5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punto de entrada para gerencia, obra y junta</a:t>
            </a:r>
            <a:endParaRPr lang="en-US" sz="1300" dirty="0"/>
          </a:p>
        </p:txBody>
      </p:sp>
      <p:pic>
        <p:nvPicPr>
          <p:cNvPr id="17" name="Image 0" descr="/sessions/gifted-amazing-babbage/work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65815" y="5916168"/>
            <a:ext cx="777240" cy="6858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5E5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 constructora  ·  comité gerentes  ·  abril 2026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9951415" y="63550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6B0E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695" y="29260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5C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— Tracción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658368"/>
            <a:ext cx="11094415" cy="0"/>
          </a:xfrm>
          <a:prstGeom prst="line">
            <a:avLst/>
          </a:prstGeom>
          <a:noFill/>
          <a:ln w="12700">
            <a:solidFill>
              <a:srgbClr val="5C0D0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686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Qué es Tracción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52704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B0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mirada en treinta segundos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84048" y="978408"/>
            <a:ext cx="54864" cy="457200"/>
          </a:xfrm>
          <a:prstGeom prst="rect">
            <a:avLst/>
          </a:prstGeom>
          <a:solidFill>
            <a:srgbClr val="6B0E0E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96596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F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Tracción es la </a:t>
            </a:r>
            <a:pPr indent="0" marL="0">
              <a:buNone/>
            </a:pPr>
            <a:r>
              <a:rPr lang="en-US" sz="2600" b="1" dirty="0">
                <a:solidFill>
                  <a:srgbClr val="6B0E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capa operativa</a:t>
            </a:r>
            <a:pPr indent="0" marL="0">
              <a:buNone/>
            </a:pPr>
            <a:r>
              <a:rPr lang="en-US" sz="2600" dirty="0">
                <a:solidFill>
                  <a:srgbClr val="1F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que unifica </a:t>
            </a:r>
            <a:pPr indent="0" marL="0">
              <a:buNone/>
            </a:pPr>
            <a:r>
              <a:rPr lang="en-US" sz="2600" b="1" dirty="0">
                <a:solidFill>
                  <a:srgbClr val="6B0E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visión, métricas, procesos y reuniones</a:t>
            </a:r>
            <a:pPr indent="0" marL="0">
              <a:buNone/>
            </a:pPr>
            <a:r>
              <a:rPr lang="en-US" sz="2600" dirty="0">
                <a:solidFill>
                  <a:srgbClr val="1F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en una sola plataforma, adaptada al negocio de la construcción.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48640" y="3977640"/>
            <a:ext cx="2670734" cy="1828800"/>
          </a:xfrm>
          <a:prstGeom prst="rect">
            <a:avLst/>
          </a:prstGeom>
          <a:solidFill>
            <a:srgbClr val="F5EFEA"/>
          </a:solidFill>
          <a:ln w="9525">
            <a:solidFill>
              <a:srgbClr val="CFC4B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3977640"/>
            <a:ext cx="2670734" cy="73152"/>
          </a:xfrm>
          <a:prstGeom prst="rect">
            <a:avLst/>
          </a:prstGeom>
          <a:solidFill>
            <a:srgbClr val="6B0E0E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41605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B89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77240" y="4572000"/>
            <a:ext cx="230497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Basada en EOS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4983480"/>
            <a:ext cx="230497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5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Sigue el modelo Entrepreneurial Operating System de Gino Wickman: VTO, Rocks, Scorecard, Issues, People, Process, Meeting.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356534" y="3977640"/>
            <a:ext cx="2670734" cy="1828800"/>
          </a:xfrm>
          <a:prstGeom prst="rect">
            <a:avLst/>
          </a:prstGeom>
          <a:solidFill>
            <a:srgbClr val="F5EFEA"/>
          </a:solidFill>
          <a:ln w="9525">
            <a:solidFill>
              <a:srgbClr val="CFC4B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56534" y="3977640"/>
            <a:ext cx="2670734" cy="73152"/>
          </a:xfrm>
          <a:prstGeom prst="rect">
            <a:avLst/>
          </a:prstGeom>
          <a:solidFill>
            <a:srgbClr val="6B0E0E"/>
          </a:solidFill>
          <a:ln/>
        </p:spPr>
      </p:sp>
      <p:sp>
        <p:nvSpPr>
          <p:cNvPr id="15" name="Text 13"/>
          <p:cNvSpPr/>
          <p:nvPr/>
        </p:nvSpPr>
        <p:spPr>
          <a:xfrm>
            <a:off x="3585134" y="41605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B89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585134" y="4572000"/>
            <a:ext cx="230497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 medida de IC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585134" y="4983480"/>
            <a:ext cx="230497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5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propios para Lotes, RRHH y Jurídico, que no existen en ninguna herramienta de mercado.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64428" y="3977640"/>
            <a:ext cx="2670734" cy="1828800"/>
          </a:xfrm>
          <a:prstGeom prst="rect">
            <a:avLst/>
          </a:prstGeom>
          <a:solidFill>
            <a:srgbClr val="F5EFEA"/>
          </a:solidFill>
          <a:ln w="9525">
            <a:solidFill>
              <a:srgbClr val="CFC4B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64428" y="3977640"/>
            <a:ext cx="2670734" cy="73152"/>
          </a:xfrm>
          <a:prstGeom prst="rect">
            <a:avLst/>
          </a:prstGeom>
          <a:solidFill>
            <a:srgbClr val="6B0E0E"/>
          </a:solidFill>
          <a:ln/>
        </p:spPr>
      </p:sp>
      <p:sp>
        <p:nvSpPr>
          <p:cNvPr id="20" name="Text 18"/>
          <p:cNvSpPr/>
          <p:nvPr/>
        </p:nvSpPr>
        <p:spPr>
          <a:xfrm>
            <a:off x="6393028" y="41605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B89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393028" y="4572000"/>
            <a:ext cx="230497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vivos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93028" y="4983480"/>
            <a:ext cx="230497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5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conecta a Supabase, SharePoint y al ERP (CBR) para mostrar información real, no reportes estáticos.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972321" y="3977640"/>
            <a:ext cx="2670734" cy="1828800"/>
          </a:xfrm>
          <a:prstGeom prst="rect">
            <a:avLst/>
          </a:prstGeom>
          <a:solidFill>
            <a:srgbClr val="F5EFEA"/>
          </a:solidFill>
          <a:ln w="9525">
            <a:solidFill>
              <a:srgbClr val="CFC4B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972321" y="3977640"/>
            <a:ext cx="2670734" cy="73152"/>
          </a:xfrm>
          <a:prstGeom prst="rect">
            <a:avLst/>
          </a:prstGeom>
          <a:solidFill>
            <a:srgbClr val="6B0E0E"/>
          </a:solidFill>
          <a:ln/>
        </p:spPr>
      </p:sp>
      <p:sp>
        <p:nvSpPr>
          <p:cNvPr id="25" name="Text 23"/>
          <p:cNvSpPr/>
          <p:nvPr/>
        </p:nvSpPr>
        <p:spPr>
          <a:xfrm>
            <a:off x="9200921" y="41605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B89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200921" y="4572000"/>
            <a:ext cx="230497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para la junta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200921" y="4983480"/>
            <a:ext cx="230497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5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el dashboard se navega a cualquier indicador, responsable, lote o requisición con un clic.</a:t>
            </a:r>
            <a:endParaRPr lang="en-US" sz="1050" dirty="0"/>
          </a:p>
        </p:txBody>
      </p:sp>
      <p:pic>
        <p:nvPicPr>
          <p:cNvPr id="28" name="Image 0" descr="/sessions/gifted-amazing-babbage/work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65815" y="5916168"/>
            <a:ext cx="777240" cy="68580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5E5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 constructora  ·  comité gerentes  ·  abril 2026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9951415" y="63550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6B0E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695" y="29260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5C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— Tracción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658368"/>
            <a:ext cx="11094415" cy="0"/>
          </a:xfrm>
          <a:prstGeom prst="line">
            <a:avLst/>
          </a:prstGeom>
          <a:noFill/>
          <a:ln w="12700">
            <a:solidFill>
              <a:srgbClr val="5C0D0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686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 6 componentes EOS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52704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B0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rueda que articula todos los módulos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84048" y="978408"/>
            <a:ext cx="54864" cy="457200"/>
          </a:xfrm>
          <a:prstGeom prst="rect">
            <a:avLst/>
          </a:prstGeom>
          <a:solidFill>
            <a:srgbClr val="6B0E0E"/>
          </a:solidFill>
          <a:ln/>
        </p:spPr>
      </p:sp>
      <p:sp>
        <p:nvSpPr>
          <p:cNvPr id="7" name="Shape 5"/>
          <p:cNvSpPr/>
          <p:nvPr/>
        </p:nvSpPr>
        <p:spPr>
          <a:xfrm>
            <a:off x="1691640" y="2468880"/>
            <a:ext cx="3749040" cy="3749040"/>
          </a:xfrm>
          <a:prstGeom prst="ellipse">
            <a:avLst/>
          </a:prstGeom>
          <a:solidFill>
            <a:srgbClr val="F5EFEA"/>
          </a:solidFill>
          <a:ln w="12700">
            <a:solidFill>
              <a:srgbClr val="CFC4B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63240" y="3840480"/>
            <a:ext cx="1005840" cy="1005840"/>
          </a:xfrm>
          <a:prstGeom prst="ellipse">
            <a:avLst/>
          </a:prstGeom>
          <a:solidFill>
            <a:srgbClr val="5C0D0D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63240" y="3904488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IC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063240" y="44074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spc="100" kern="0" dirty="0">
                <a:solidFill>
                  <a:srgbClr val="B89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Tracción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040380" y="2217420"/>
            <a:ext cx="1051560" cy="105156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6B0E0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40380" y="248716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0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40380" y="2770632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E5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VTO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426194" y="3017520"/>
            <a:ext cx="1051560" cy="105156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7A8C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26194" y="328726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8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426194" y="3570732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E5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people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426194" y="4617720"/>
            <a:ext cx="1051560" cy="105156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B890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26194" y="488746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9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426194" y="5170932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E5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Scorecard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040380" y="5417820"/>
            <a:ext cx="1051560" cy="105156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2F34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40380" y="568756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Tracción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040380" y="5971032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E5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Rocks + L10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654566" y="4617720"/>
            <a:ext cx="1051560" cy="105156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8B20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54566" y="488746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654566" y="5170932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E5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processes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654566" y="3017520"/>
            <a:ext cx="1051560" cy="105156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8B6B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54566" y="328726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Asuntos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654566" y="3570732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E5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675120" y="2011680"/>
            <a:ext cx="49679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se gestiona desde la rueda?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6675120" y="2679192"/>
            <a:ext cx="54864" cy="384048"/>
          </a:xfrm>
          <a:prstGeom prst="rect">
            <a:avLst/>
          </a:prstGeom>
          <a:solidFill>
            <a:srgbClr val="6B0E0E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0" y="26060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046720" y="2606040"/>
            <a:ext cx="35963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VTO: valores, propósito, metas 10 años / 3 años / 1 año.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675120" y="3182112"/>
            <a:ext cx="54864" cy="384048"/>
          </a:xfrm>
          <a:prstGeom prst="rect">
            <a:avLst/>
          </a:prstGeom>
          <a:solidFill>
            <a:srgbClr val="6B0E0E"/>
          </a:solidFill>
          <a:ln/>
        </p:spPr>
      </p:sp>
      <p:sp>
        <p:nvSpPr>
          <p:cNvPr id="34" name="Text 32"/>
          <p:cNvSpPr/>
          <p:nvPr/>
        </p:nvSpPr>
        <p:spPr>
          <a:xfrm>
            <a:off x="6858000" y="31089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046720" y="3108960"/>
            <a:ext cx="35963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Organigrama, accountability chart, People Analyzer.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675120" y="3685032"/>
            <a:ext cx="54864" cy="384048"/>
          </a:xfrm>
          <a:prstGeom prst="rect">
            <a:avLst/>
          </a:prstGeom>
          <a:solidFill>
            <a:srgbClr val="6B0E0E"/>
          </a:solidFill>
          <a:ln/>
        </p:spPr>
      </p:sp>
      <p:sp>
        <p:nvSpPr>
          <p:cNvPr id="37" name="Text 35"/>
          <p:cNvSpPr/>
          <p:nvPr/>
        </p:nvSpPr>
        <p:spPr>
          <a:xfrm>
            <a:off x="6858000" y="36118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046720" y="3611880"/>
            <a:ext cx="35963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Scorecard semanal con KPIs y leading indicators por proceso.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675120" y="4187952"/>
            <a:ext cx="54864" cy="384048"/>
          </a:xfrm>
          <a:prstGeom prst="rect">
            <a:avLst/>
          </a:prstGeom>
          <a:solidFill>
            <a:srgbClr val="6B0E0E"/>
          </a:solidFill>
          <a:ln/>
        </p:spPr>
      </p:sp>
      <p:sp>
        <p:nvSpPr>
          <p:cNvPr id="40" name="Text 38"/>
          <p:cNvSpPr/>
          <p:nvPr/>
        </p:nvSpPr>
        <p:spPr>
          <a:xfrm>
            <a:off x="6858000" y="411480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Asuntos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8046720" y="4114800"/>
            <a:ext cx="35963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Listas IDS (Identify, Discuss, Solve) por área y comité.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6675120" y="4690872"/>
            <a:ext cx="54864" cy="384048"/>
          </a:xfrm>
          <a:prstGeom prst="rect">
            <a:avLst/>
          </a:prstGeom>
          <a:solidFill>
            <a:srgbClr val="6B0E0E"/>
          </a:solidFill>
          <a:ln/>
        </p:spPr>
      </p:sp>
      <p:sp>
        <p:nvSpPr>
          <p:cNvPr id="43" name="Text 41"/>
          <p:cNvSpPr/>
          <p:nvPr/>
        </p:nvSpPr>
        <p:spPr>
          <a:xfrm>
            <a:off x="6858000" y="46177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8046720" y="4617720"/>
            <a:ext cx="35963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 medulares documentados con dueño y SLA.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6675120" y="5193792"/>
            <a:ext cx="54864" cy="384048"/>
          </a:xfrm>
          <a:prstGeom prst="rect">
            <a:avLst/>
          </a:prstGeom>
          <a:solidFill>
            <a:srgbClr val="6B0E0E"/>
          </a:solidFill>
          <a:ln/>
        </p:spPr>
      </p:sp>
      <p:sp>
        <p:nvSpPr>
          <p:cNvPr id="46" name="Text 44"/>
          <p:cNvSpPr/>
          <p:nvPr/>
        </p:nvSpPr>
        <p:spPr>
          <a:xfrm>
            <a:off x="6858000" y="51206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Tracción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8046720" y="5120640"/>
            <a:ext cx="35963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Rocas trimestrales y reuniones Level-10 en vivo.</a:t>
            </a:r>
            <a:endParaRPr lang="en-US" sz="1150" dirty="0"/>
          </a:p>
        </p:txBody>
      </p:sp>
      <p:pic>
        <p:nvPicPr>
          <p:cNvPr id="48" name="Image 0" descr="/sessions/gifted-amazing-babbage/work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65815" y="5916168"/>
            <a:ext cx="777240" cy="685800"/>
          </a:xfrm>
          <a:prstGeom prst="rect">
            <a:avLst/>
          </a:prstGeom>
        </p:spPr>
      </p:pic>
      <p:sp>
        <p:nvSpPr>
          <p:cNvPr id="49" name="Text 46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5E5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 constructora  ·  comité gerentes  ·  abril 2026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9951415" y="63550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6B0E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695" y="29260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5C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— Tracción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658368"/>
            <a:ext cx="11094415" cy="0"/>
          </a:xfrm>
          <a:prstGeom prst="line">
            <a:avLst/>
          </a:prstGeom>
          <a:noFill/>
          <a:ln w="12700">
            <a:solidFill>
              <a:srgbClr val="5C0D0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686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Módulos EOS implementados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52704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B0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pantallas operativas, todas activas en la app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84048" y="978408"/>
            <a:ext cx="54864" cy="457200"/>
          </a:xfrm>
          <a:prstGeom prst="rect">
            <a:avLst/>
          </a:prstGeom>
          <a:solidFill>
            <a:srgbClr val="6B0E0E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20240"/>
            <a:ext cx="3515258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CFC4BC"/>
            </a:solidFill>
            <a:prstDash val="solid"/>
          </a:ln>
          <a:effectLst>
            <a:outerShdw sx="100000" sy="100000" kx="0" ky="0" algn="bl" rotWithShape="0" blurRad="1016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920240"/>
            <a:ext cx="91440" cy="1965960"/>
          </a:xfrm>
          <a:prstGeom prst="rect">
            <a:avLst/>
          </a:prstGeom>
          <a:solidFill>
            <a:srgbClr val="6B0E0E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214884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Visión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41248" y="2606040"/>
            <a:ext cx="30580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0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VTO completo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41248" y="2971800"/>
            <a:ext cx="30580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5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centrales, core focus, BHAG, metas 10/3/1 años y plan de marketing.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38218" y="1920240"/>
            <a:ext cx="3515258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CFC4BC"/>
            </a:solidFill>
            <a:prstDash val="solid"/>
          </a:ln>
          <a:effectLst>
            <a:outerShdw sx="100000" sy="100000" kx="0" ky="0" algn="bl" rotWithShape="0" blurRad="1016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38218" y="1920240"/>
            <a:ext cx="91440" cy="1965960"/>
          </a:xfrm>
          <a:prstGeom prst="rect">
            <a:avLst/>
          </a:prstGeom>
          <a:solidFill>
            <a:srgbClr val="7A8C7A"/>
          </a:solidFill>
          <a:ln/>
        </p:spPr>
      </p:sp>
      <p:sp>
        <p:nvSpPr>
          <p:cNvPr id="14" name="Text 12"/>
          <p:cNvSpPr/>
          <p:nvPr/>
        </p:nvSpPr>
        <p:spPr>
          <a:xfrm>
            <a:off x="4630826" y="214884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630826" y="2606040"/>
            <a:ext cx="30580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A8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 Chart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30826" y="2971800"/>
            <a:ext cx="30580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5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Organigrama por roles con People Analyzer (GWC + core values).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27797" y="1920240"/>
            <a:ext cx="3515258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CFC4BC"/>
            </a:solidFill>
            <a:prstDash val="solid"/>
          </a:ln>
          <a:effectLst>
            <a:outerShdw sx="100000" sy="100000" kx="0" ky="0" algn="bl" rotWithShape="0" blurRad="1016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127797" y="1920240"/>
            <a:ext cx="91440" cy="1965960"/>
          </a:xfrm>
          <a:prstGeom prst="rect">
            <a:avLst/>
          </a:prstGeom>
          <a:solidFill>
            <a:srgbClr val="B89047"/>
          </a:solidFill>
          <a:ln/>
        </p:spPr>
      </p:sp>
      <p:sp>
        <p:nvSpPr>
          <p:cNvPr id="19" name="Text 17"/>
          <p:cNvSpPr/>
          <p:nvPr/>
        </p:nvSpPr>
        <p:spPr>
          <a:xfrm>
            <a:off x="8420405" y="214884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Datos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420405" y="2606040"/>
            <a:ext cx="30580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9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Scorecard semanal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420405" y="2971800"/>
            <a:ext cx="30580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5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con meta, semáforo y tendencias. Historial por mes y responsable.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160520"/>
            <a:ext cx="3515258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CFC4BC"/>
            </a:solidFill>
            <a:prstDash val="solid"/>
          </a:ln>
          <a:effectLst>
            <a:outerShdw sx="100000" sy="100000" kx="0" ky="0" algn="bl" rotWithShape="0" blurRad="1016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4160520"/>
            <a:ext cx="91440" cy="1965960"/>
          </a:xfrm>
          <a:prstGeom prst="rect">
            <a:avLst/>
          </a:prstGeom>
          <a:solidFill>
            <a:srgbClr val="8B6B3D"/>
          </a:solidFill>
          <a:ln/>
        </p:spPr>
      </p:sp>
      <p:sp>
        <p:nvSpPr>
          <p:cNvPr id="24" name="Text 22"/>
          <p:cNvSpPr/>
          <p:nvPr/>
        </p:nvSpPr>
        <p:spPr>
          <a:xfrm>
            <a:off x="841248" y="438912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Asuntos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41248" y="4846320"/>
            <a:ext cx="30580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Listas IDS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41248" y="5212080"/>
            <a:ext cx="30580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5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term, long term y lista por reunión. Se puede cerrar en vivo en la L10.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338218" y="4160520"/>
            <a:ext cx="3515258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CFC4BC"/>
            </a:solidFill>
            <a:prstDash val="solid"/>
          </a:ln>
          <a:effectLst>
            <a:outerShdw sx="100000" sy="100000" kx="0" ky="0" algn="bl" rotWithShape="0" blurRad="101600" dist="127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338218" y="4160520"/>
            <a:ext cx="91440" cy="1965960"/>
          </a:xfrm>
          <a:prstGeom prst="rect">
            <a:avLst/>
          </a:prstGeom>
          <a:solidFill>
            <a:srgbClr val="8B2020"/>
          </a:solidFill>
          <a:ln/>
        </p:spPr>
      </p:sp>
      <p:sp>
        <p:nvSpPr>
          <p:cNvPr id="29" name="Text 27"/>
          <p:cNvSpPr/>
          <p:nvPr/>
        </p:nvSpPr>
        <p:spPr>
          <a:xfrm>
            <a:off x="4630826" y="438912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Procesos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4630826" y="4846320"/>
            <a:ext cx="30580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Processes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630826" y="5212080"/>
            <a:ext cx="30580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5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 medulares con pasos, dueño y documentación vinculada.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127797" y="4160520"/>
            <a:ext cx="3515258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CFC4BC"/>
            </a:solidFill>
            <a:prstDash val="solid"/>
          </a:ln>
          <a:effectLst>
            <a:outerShdw sx="100000" sy="100000" kx="0" ky="0" algn="bl" rotWithShape="0" blurRad="101600" dist="127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127797" y="4160520"/>
            <a:ext cx="91440" cy="1965960"/>
          </a:xfrm>
          <a:prstGeom prst="rect">
            <a:avLst/>
          </a:prstGeom>
          <a:solidFill>
            <a:srgbClr val="2F3440"/>
          </a:solidFill>
          <a:ln/>
        </p:spPr>
      </p:sp>
      <p:sp>
        <p:nvSpPr>
          <p:cNvPr id="34" name="Text 32"/>
          <p:cNvSpPr/>
          <p:nvPr/>
        </p:nvSpPr>
        <p:spPr>
          <a:xfrm>
            <a:off x="8420405" y="438912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Tracción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8420405" y="4846320"/>
            <a:ext cx="30580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Rocks + L10 Runner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420405" y="5212080"/>
            <a:ext cx="30580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5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Rocas trimestrales por persona y conductor de reuniones Level-10 en vivo.</a:t>
            </a:r>
            <a:endParaRPr lang="en-US" sz="1100" dirty="0"/>
          </a:p>
        </p:txBody>
      </p:sp>
      <p:pic>
        <p:nvPicPr>
          <p:cNvPr id="37" name="Image 0" descr="/sessions/gifted-amazing-babbage/work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65815" y="5916168"/>
            <a:ext cx="777240" cy="685800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5E5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 constructora  ·  comité gerentes  ·  abril 2026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9951415" y="63550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6B0E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695" y="29260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5C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— Tracción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658368"/>
            <a:ext cx="11094415" cy="0"/>
          </a:xfrm>
          <a:prstGeom prst="line">
            <a:avLst/>
          </a:prstGeom>
          <a:noFill/>
          <a:ln w="12700">
            <a:solidFill>
              <a:srgbClr val="5C0D0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686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Módulos propios de IC Constructora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52704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B0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ninguna herramienta de mercado resuelve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84048" y="978408"/>
            <a:ext cx="54864" cy="457200"/>
          </a:xfrm>
          <a:prstGeom prst="rect">
            <a:avLst/>
          </a:prstGeom>
          <a:solidFill>
            <a:srgbClr val="6B0E0E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20240"/>
            <a:ext cx="3515258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CFC4B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920240"/>
            <a:ext cx="3515258" cy="1005840"/>
          </a:xfrm>
          <a:prstGeom prst="rect">
            <a:avLst/>
          </a:prstGeom>
          <a:solidFill>
            <a:srgbClr val="5C0D0D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907792"/>
            <a:ext cx="3515258" cy="54864"/>
          </a:xfrm>
          <a:prstGeom prst="rect">
            <a:avLst/>
          </a:prstGeom>
          <a:solidFill>
            <a:srgbClr val="B89047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121408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Lotes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22960" y="2560320"/>
            <a:ext cx="29666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5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Prospección y adquisición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3154680"/>
            <a:ext cx="3012338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 Prospecto → Análisis → Negociación → Adquirido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técnica: uso, valor COP, documentos (escritura, planos, estudios)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Asesores: estructural, suelos, arquitecto, ambiental, urbanístico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Socios: comercializador, inversionista, fiduciaria, financiero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38218" y="1920240"/>
            <a:ext cx="3515258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CFC4B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38218" y="1920240"/>
            <a:ext cx="3515258" cy="1005840"/>
          </a:xfrm>
          <a:prstGeom prst="rect">
            <a:avLst/>
          </a:prstGeom>
          <a:solidFill>
            <a:srgbClr val="5C0D0D"/>
          </a:solidFill>
          <a:ln/>
        </p:spPr>
      </p:sp>
      <p:sp>
        <p:nvSpPr>
          <p:cNvPr id="15" name="Shape 13"/>
          <p:cNvSpPr/>
          <p:nvPr/>
        </p:nvSpPr>
        <p:spPr>
          <a:xfrm>
            <a:off x="4338218" y="2907792"/>
            <a:ext cx="3515258" cy="54864"/>
          </a:xfrm>
          <a:prstGeom prst="rect">
            <a:avLst/>
          </a:prstGeom>
          <a:solidFill>
            <a:srgbClr val="B89047"/>
          </a:solidFill>
          <a:ln/>
        </p:spPr>
      </p:sp>
      <p:sp>
        <p:nvSpPr>
          <p:cNvPr id="16" name="Text 14"/>
          <p:cNvSpPr/>
          <p:nvPr/>
        </p:nvSpPr>
        <p:spPr>
          <a:xfrm>
            <a:off x="4612538" y="2121408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RRHH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612538" y="2560320"/>
            <a:ext cx="29666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5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Requisiciones y selección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12538" y="3154680"/>
            <a:ext cx="3012338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Flujo: Borrador → Aprobado → Búsqueda → Entrevistas → Oferta → Cerrado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Candidatos con fuente (LinkedIn, headhunter, referido) y estado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Entrevistas: RRHH, técnica, gerencia, prueba, final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Bitácora por requisición con comentarios y documentos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27797" y="1920240"/>
            <a:ext cx="3515258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CFC4B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127797" y="1920240"/>
            <a:ext cx="3515258" cy="1005840"/>
          </a:xfrm>
          <a:prstGeom prst="rect">
            <a:avLst/>
          </a:prstGeom>
          <a:solidFill>
            <a:srgbClr val="5C0D0D"/>
          </a:solidFill>
          <a:ln/>
        </p:spPr>
      </p:sp>
      <p:sp>
        <p:nvSpPr>
          <p:cNvPr id="21" name="Shape 19"/>
          <p:cNvSpPr/>
          <p:nvPr/>
        </p:nvSpPr>
        <p:spPr>
          <a:xfrm>
            <a:off x="8127797" y="2907792"/>
            <a:ext cx="3515258" cy="54864"/>
          </a:xfrm>
          <a:prstGeom prst="rect">
            <a:avLst/>
          </a:prstGeom>
          <a:solidFill>
            <a:srgbClr val="B89047"/>
          </a:solidFill>
          <a:ln/>
        </p:spPr>
      </p:sp>
      <p:sp>
        <p:nvSpPr>
          <p:cNvPr id="22" name="Text 20"/>
          <p:cNvSpPr/>
          <p:nvPr/>
        </p:nvSpPr>
        <p:spPr>
          <a:xfrm>
            <a:off x="8402117" y="2121408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Jurídico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402117" y="2560320"/>
            <a:ext cx="29666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5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 legales y trámites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402117" y="3154680"/>
            <a:ext cx="3012338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Tipos: compraventa, promesa, escrituración, hipoteca, licencia, demanda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Estados: pendiente, en proceso, en revisión, aprobado, cerrado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Hitos, involucrados, prioridad y riesgo por proceso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Bitácora unificada con documentos anexos y alertas</a:t>
            </a:r>
            <a:endParaRPr lang="en-US" sz="1150" dirty="0"/>
          </a:p>
        </p:txBody>
      </p:sp>
      <p:pic>
        <p:nvPicPr>
          <p:cNvPr id="25" name="Image 0" descr="/sessions/gifted-amazing-babbage/work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65815" y="5916168"/>
            <a:ext cx="777240" cy="68580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5E5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 constructora  ·  comité gerentes  ·  abril 2026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9951415" y="63550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6B0E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695" y="29260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5C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— Tracción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658368"/>
            <a:ext cx="11094415" cy="0"/>
          </a:xfrm>
          <a:prstGeom prst="line">
            <a:avLst/>
          </a:prstGeom>
          <a:noFill/>
          <a:ln w="12700">
            <a:solidFill>
              <a:srgbClr val="5C0D0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686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Herramientas de IA integradas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52704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B0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Asistentes especializados accesibles desde el mismo sidebar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84048" y="978408"/>
            <a:ext cx="54864" cy="457200"/>
          </a:xfrm>
          <a:prstGeom prst="rect">
            <a:avLst/>
          </a:prstGeom>
          <a:solidFill>
            <a:srgbClr val="6B0E0E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65960"/>
            <a:ext cx="5364328" cy="4160520"/>
          </a:xfrm>
          <a:prstGeom prst="rect">
            <a:avLst/>
          </a:prstGeom>
          <a:solidFill>
            <a:srgbClr val="FFFFFF"/>
          </a:solidFill>
          <a:ln w="9525">
            <a:solidFill>
              <a:srgbClr val="CFC4B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965960"/>
            <a:ext cx="5364328" cy="1554480"/>
          </a:xfrm>
          <a:prstGeom prst="rect">
            <a:avLst/>
          </a:prstGeom>
          <a:solidFill>
            <a:srgbClr val="2F3440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148840"/>
            <a:ext cx="3535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Indicadores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868680" y="2679192"/>
            <a:ext cx="3535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 de datos sobre CBR (ERP)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75608" y="21488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200" b="1" dirty="0">
                <a:solidFill>
                  <a:srgbClr val="B89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4175608" y="2926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5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ERP conectadas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14400" y="3749040"/>
            <a:ext cx="472424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Streamlit con Gemini conectada al ERP CBR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tablas del modelo semántico documentadas para la IA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en lenguaje natural → respuesta con datos reales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Insume directamente el Tablero de Control de Resultados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78728" y="1965960"/>
            <a:ext cx="5364328" cy="4160520"/>
          </a:xfrm>
          <a:prstGeom prst="rect">
            <a:avLst/>
          </a:prstGeom>
          <a:solidFill>
            <a:srgbClr val="FFFFFF"/>
          </a:solidFill>
          <a:ln w="9525">
            <a:solidFill>
              <a:srgbClr val="CFC4B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78728" y="1965960"/>
            <a:ext cx="5364328" cy="1554480"/>
          </a:xfrm>
          <a:prstGeom prst="rect">
            <a:avLst/>
          </a:prstGeom>
          <a:solidFill>
            <a:srgbClr val="5C0D0D"/>
          </a:solidFill>
          <a:ln/>
        </p:spPr>
      </p:sp>
      <p:sp>
        <p:nvSpPr>
          <p:cNvPr id="16" name="Text 14"/>
          <p:cNvSpPr/>
          <p:nvPr/>
        </p:nvSpPr>
        <p:spPr>
          <a:xfrm>
            <a:off x="6598768" y="2148840"/>
            <a:ext cx="3535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Total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598768" y="2679192"/>
            <a:ext cx="3535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planos con IA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905695" y="21488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200" b="1" dirty="0">
                <a:solidFill>
                  <a:srgbClr val="B89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IA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9905695" y="2926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5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planos PDF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644488" y="3749040"/>
            <a:ext cx="472424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React + Backend Flask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Vision lee planos PDF y extrae medidas y cantidades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validar presupuestos y cortar tiempos de take-off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Pensado para el equipo de presupuestos y compras</a:t>
            </a:r>
            <a:endParaRPr lang="en-US" sz="1300" dirty="0"/>
          </a:p>
        </p:txBody>
      </p:sp>
      <p:pic>
        <p:nvPicPr>
          <p:cNvPr id="21" name="Image 0" descr="/sessions/gifted-amazing-babbage/work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65815" y="5916168"/>
            <a:ext cx="777240" cy="68580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5E5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 constructora  ·  comité gerentes  ·  abril 2026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9951415" y="63550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6B0E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695" y="29260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5C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— Tracción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658368"/>
            <a:ext cx="11094415" cy="0"/>
          </a:xfrm>
          <a:prstGeom prst="line">
            <a:avLst/>
          </a:prstGeom>
          <a:noFill/>
          <a:ln w="12700">
            <a:solidFill>
              <a:srgbClr val="5C0D0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686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Cómo está construida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52704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B0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 simple, probada y de bajo costo operativo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84048" y="978408"/>
            <a:ext cx="54864" cy="457200"/>
          </a:xfrm>
          <a:prstGeom prst="rect">
            <a:avLst/>
          </a:prstGeom>
          <a:solidFill>
            <a:srgbClr val="6B0E0E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65960"/>
            <a:ext cx="6217920" cy="749808"/>
          </a:xfrm>
          <a:prstGeom prst="rect">
            <a:avLst/>
          </a:prstGeom>
          <a:solidFill>
            <a:srgbClr val="F5EFEA"/>
          </a:solidFill>
          <a:ln w="6350">
            <a:solidFill>
              <a:srgbClr val="CFC4B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965960"/>
            <a:ext cx="109728" cy="749808"/>
          </a:xfrm>
          <a:prstGeom prst="rect">
            <a:avLst/>
          </a:prstGeom>
          <a:solidFill>
            <a:srgbClr val="B89047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039112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9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063240" y="2039112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Comité, gerentes, líderes de obra y áreas transversales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843784"/>
            <a:ext cx="6217920" cy="749808"/>
          </a:xfrm>
          <a:prstGeom prst="rect">
            <a:avLst/>
          </a:prstGeom>
          <a:solidFill>
            <a:srgbClr val="F5EFEA"/>
          </a:solidFill>
          <a:ln w="6350">
            <a:solidFill>
              <a:srgbClr val="CFC4B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843784"/>
            <a:ext cx="109728" cy="749808"/>
          </a:xfrm>
          <a:prstGeom prst="rect">
            <a:avLst/>
          </a:prstGeom>
          <a:solidFill>
            <a:srgbClr val="6B0E0E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916936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B0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Tracción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063240" y="2916936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Vite + React Router. Multi-idioma (ES/EN). PWA responsive.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721608"/>
            <a:ext cx="6217920" cy="749808"/>
          </a:xfrm>
          <a:prstGeom prst="rect">
            <a:avLst/>
          </a:prstGeom>
          <a:solidFill>
            <a:srgbClr val="F5EFEA"/>
          </a:solidFill>
          <a:ln w="6350">
            <a:solidFill>
              <a:srgbClr val="CFC4B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721608"/>
            <a:ext cx="109728" cy="749808"/>
          </a:xfrm>
          <a:prstGeom prst="rect">
            <a:avLst/>
          </a:prstGeom>
          <a:solidFill>
            <a:srgbClr val="5C0D0D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79476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 datos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063240" y="379476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(PostgreSQL + Auth + RLS). Un solo tenant: ic-constructora.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599432"/>
            <a:ext cx="6217920" cy="749808"/>
          </a:xfrm>
          <a:prstGeom prst="rect">
            <a:avLst/>
          </a:prstGeom>
          <a:solidFill>
            <a:srgbClr val="F5EFEA"/>
          </a:solidFill>
          <a:ln w="6350">
            <a:solidFill>
              <a:srgbClr val="CFC4B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4599432"/>
            <a:ext cx="109728" cy="749808"/>
          </a:xfrm>
          <a:prstGeom prst="rect">
            <a:avLst/>
          </a:prstGeom>
          <a:solidFill>
            <a:srgbClr val="2F3440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672584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Integraciones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063240" y="4672584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 · CBR · Power BI · Gemini AI (Indicadores y Total)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5477256"/>
            <a:ext cx="6217920" cy="749808"/>
          </a:xfrm>
          <a:prstGeom prst="rect">
            <a:avLst/>
          </a:prstGeom>
          <a:solidFill>
            <a:srgbClr val="F5EFEA"/>
          </a:solidFill>
          <a:ln w="6350">
            <a:solidFill>
              <a:srgbClr val="CFC4B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5477256"/>
            <a:ext cx="109728" cy="749808"/>
          </a:xfrm>
          <a:prstGeom prst="rect">
            <a:avLst/>
          </a:prstGeom>
          <a:solidFill>
            <a:srgbClr val="7A8C7A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5550408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A8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063240" y="5550408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1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Static Web Apps con CI/CD desde GitHub. SSL y rollback por PR.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132320" y="1965960"/>
            <a:ext cx="4510735" cy="4343400"/>
          </a:xfrm>
          <a:prstGeom prst="rect">
            <a:avLst/>
          </a:prstGeom>
          <a:solidFill>
            <a:srgbClr val="5C0D0D"/>
          </a:solidFill>
          <a:ln/>
        </p:spPr>
      </p:sp>
      <p:sp>
        <p:nvSpPr>
          <p:cNvPr id="28" name="Shape 26"/>
          <p:cNvSpPr/>
          <p:nvPr/>
        </p:nvSpPr>
        <p:spPr>
          <a:xfrm>
            <a:off x="7132320" y="1965960"/>
            <a:ext cx="109728" cy="4343400"/>
          </a:xfrm>
          <a:prstGeom prst="rect">
            <a:avLst/>
          </a:prstGeom>
          <a:solidFill>
            <a:srgbClr val="B89047"/>
          </a:solidFill>
          <a:ln/>
        </p:spPr>
      </p:sp>
      <p:sp>
        <p:nvSpPr>
          <p:cNvPr id="29" name="Text 27"/>
          <p:cNvSpPr/>
          <p:nvPr/>
        </p:nvSpPr>
        <p:spPr>
          <a:xfrm>
            <a:off x="7406640" y="2148840"/>
            <a:ext cx="4053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9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CLAVE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406640" y="2542032"/>
            <a:ext cx="40078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licencias por usuario. </a:t>
            </a:r>
            <a:pPr indent="0" marL="0">
              <a:buNone/>
            </a:pPr>
            <a:r>
              <a:rPr lang="en-US" sz="1150" dirty="0">
                <a:solidFill>
                  <a:srgbClr val="F5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y Azure SWA tienen planes gratuitos o muy económicos para el volumen de IC.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406640" y="3483864"/>
            <a:ext cx="40078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total del código. </a:t>
            </a:r>
            <a:pPr indent="0" marL="0">
              <a:buNone/>
            </a:pPr>
            <a:r>
              <a:rPr lang="en-US" sz="1150" dirty="0">
                <a:solidFill>
                  <a:srgbClr val="F5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código vive en nuestro repositorio. No dependemos de un SaaS cerrado.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406640" y="4425696"/>
            <a:ext cx="40078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Mode integrado. </a:t>
            </a:r>
            <a:pPr indent="0" marL="0">
              <a:buNone/>
            </a:pPr>
            <a:r>
              <a:rPr lang="en-US" sz="1150" dirty="0">
                <a:solidFill>
                  <a:srgbClr val="F5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puede probar toda la app sin tocar la base real: ideal para capacitar.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406640" y="5367528"/>
            <a:ext cx="40078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por defecto. </a:t>
            </a:r>
            <a:pPr indent="0" marL="0">
              <a:buNone/>
            </a:pPr>
            <a:r>
              <a:rPr lang="en-US" sz="1150" dirty="0">
                <a:solidFill>
                  <a:srgbClr val="F5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 activo en todas las tablas de Supabase. Auth con SSO empresarial futuro.</a:t>
            </a:r>
            <a:endParaRPr lang="en-US" sz="1150" dirty="0"/>
          </a:p>
        </p:txBody>
      </p:sp>
      <p:pic>
        <p:nvPicPr>
          <p:cNvPr id="34" name="Image 0" descr="/sessions/gifted-amazing-babbage/work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65815" y="5916168"/>
            <a:ext cx="777240" cy="685800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5E5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 constructora  ·  comité gerentes  ·  abril 2026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9951415" y="63550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6B0E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695" y="29260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5C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— Tracción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658368"/>
            <a:ext cx="11094415" cy="0"/>
          </a:xfrm>
          <a:prstGeom prst="line">
            <a:avLst/>
          </a:prstGeom>
          <a:noFill/>
          <a:ln w="12700">
            <a:solidFill>
              <a:srgbClr val="5C0D0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686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Estado del desarrollo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52704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B0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Febrero → Abril 2026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84048" y="978408"/>
            <a:ext cx="54864" cy="457200"/>
          </a:xfrm>
          <a:prstGeom prst="rect">
            <a:avLst/>
          </a:prstGeom>
          <a:solidFill>
            <a:srgbClr val="6B0E0E"/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094415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1463040"/>
                <a:gridCol w="5973775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ÁREA / MÓDULO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109728" marB="109728" anchor="ctr">
                    <a:lnL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0D0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0D0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109728" marB="109728" anchor="ctr">
                    <a:lnL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0D0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EOS — Visión (VTO)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54864" marB="54864" anchor="ctr">
                    <a:lnL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spc="200" kern="0" dirty="0">
                          <a:solidFill>
                            <a:srgbClr val="6B0E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E57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Pantalla completa, editable.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54864" marB="54864" anchor="ctr">
                    <a:lnL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EOS — Personas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54864" marB="54864" anchor="ctr">
                    <a:lnL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spc="200" kern="0" dirty="0">
                          <a:solidFill>
                            <a:srgbClr val="6B0E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E57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Accountability chart + People Analyzer.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54864" marB="54864" anchor="ctr">
                    <a:lnL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EOS — Datos (Scorecard)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54864" marB="54864" anchor="ctr">
                    <a:lnL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spc="200" kern="0" dirty="0">
                          <a:solidFill>
                            <a:srgbClr val="6B0E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E57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KPIs con meta, historial y semáforo.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54864" marB="54864" anchor="ctr">
                    <a:lnL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EOS — Asuntos (IDS)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54864" marB="54864" anchor="ctr">
                    <a:lnL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spc="200" kern="0" dirty="0">
                          <a:solidFill>
                            <a:srgbClr val="6B0E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E57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Listas por reunión, cierre en vivo.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54864" marB="54864" anchor="ctr">
                    <a:lnL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EOS — Procesos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54864" marB="54864" anchor="ctr">
                    <a:lnL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spc="200" kern="0" dirty="0">
                          <a:solidFill>
                            <a:srgbClr val="6B0E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E57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Procesos medulares con pasos y dueño.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54864" marB="54864" anchor="ctr">
                    <a:lnL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EOS — Tracción (Rocks + L10)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54864" marB="54864" anchor="ctr">
                    <a:lnL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spc="200" kern="0" dirty="0">
                          <a:solidFill>
                            <a:srgbClr val="6B0E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E57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Rocas trimestrales y L10 Runner.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54864" marB="54864" anchor="ctr">
                    <a:lnL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 — Lotes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54864" marB="54864" anchor="ctr">
                    <a:lnL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spc="200" kern="0" dirty="0">
                          <a:solidFill>
                            <a:srgbClr val="6B0E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E57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Pipeline, documentos, asesores, socios.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54864" marB="54864" anchor="ctr">
                    <a:lnL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 — RRHH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54864" marB="54864" anchor="ctr">
                    <a:lnL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spc="200" kern="0" dirty="0">
                          <a:solidFill>
                            <a:srgbClr val="6B0E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E57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Requisiciones, candidatos, entrevistas.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54864" marB="54864" anchor="ctr">
                    <a:lnL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 — Jurídico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54864" marB="54864" anchor="ctr">
                    <a:lnL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spc="200" kern="0" dirty="0">
                          <a:solidFill>
                            <a:srgbClr val="6B0E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E57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Procesos legales con hitos y bitácora.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54864" marB="54864" anchor="ctr">
                    <a:lnL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Indicadores (IA sobre CBR)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54864" marB="54864" anchor="ctr">
                    <a:lnL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spc="200" kern="0" dirty="0">
                          <a:solidFill>
                            <a:srgbClr val="B890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curso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E57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 tablas documentadas; tuning del prompt.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54864" marB="54864" anchor="ctr">
                    <a:lnL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(análisis de planos)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54864" marB="54864" anchor="ctr">
                    <a:lnL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spc="200" kern="0" dirty="0">
                          <a:solidFill>
                            <a:srgbClr val="B890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curso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E57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 y backend integrados; afinando extracción.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54864" marB="54864" anchor="ctr">
                    <a:lnL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 en Azure SWA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54864" marB="54864" anchor="ctr">
                    <a:lnL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spc="200" kern="0" dirty="0">
                          <a:solidFill>
                            <a:srgbClr val="7A8C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E57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Conectar GitHub y configurar variables.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54864" marB="54864" anchor="ctr">
                    <a:lnL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B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SSO con Azure 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54864" marB="54864" anchor="ctr">
                    <a:lnL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spc="200" kern="0" dirty="0">
                          <a:solidFill>
                            <a:srgbClr val="7A8C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E57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Opcional — después del primer despliegue.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0" marR="182880" marT="54864" marB="54864" anchor="ctr">
                    <a:lnL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4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6318504"/>
            <a:ext cx="164592" cy="164592"/>
          </a:xfrm>
          <a:prstGeom prst="ellipse">
            <a:avLst/>
          </a:prstGeom>
          <a:solidFill>
            <a:srgbClr val="6B0E0E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624535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5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Listo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1828800" y="6318504"/>
            <a:ext cx="164592" cy="164592"/>
          </a:xfrm>
          <a:prstGeom prst="ellipse">
            <a:avLst/>
          </a:prstGeom>
          <a:solidFill>
            <a:srgbClr val="B89047"/>
          </a:solidFill>
          <a:ln/>
        </p:spPr>
      </p:sp>
      <p:sp>
        <p:nvSpPr>
          <p:cNvPr id="11" name="Text 8"/>
          <p:cNvSpPr/>
          <p:nvPr/>
        </p:nvSpPr>
        <p:spPr>
          <a:xfrm>
            <a:off x="2057400" y="624535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5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curso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108960" y="6318504"/>
            <a:ext cx="164592" cy="164592"/>
          </a:xfrm>
          <a:prstGeom prst="ellipse">
            <a:avLst/>
          </a:prstGeom>
          <a:solidFill>
            <a:srgbClr val="7A8C7A"/>
          </a:solidFill>
          <a:ln/>
        </p:spPr>
      </p:sp>
      <p:sp>
        <p:nvSpPr>
          <p:cNvPr id="13" name="Text 10"/>
          <p:cNvSpPr/>
          <p:nvPr/>
        </p:nvSpPr>
        <p:spPr>
          <a:xfrm>
            <a:off x="3337560" y="624535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5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</a:t>
            </a:r>
            <a:endParaRPr lang="en-US" sz="1050" dirty="0"/>
          </a:p>
        </p:txBody>
      </p:sp>
      <p:pic>
        <p:nvPicPr>
          <p:cNvPr id="14" name="Image 0" descr="/sessions/gifted-amazing-babbage/work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65815" y="5916168"/>
            <a:ext cx="777240" cy="6858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5E5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 constructora  ·  comité gerentes  ·  abril 2026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9951415" y="63550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6B0E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9695" y="29260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5C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— Tracción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658368"/>
            <a:ext cx="11094415" cy="0"/>
          </a:xfrm>
          <a:prstGeom prst="line">
            <a:avLst/>
          </a:prstGeom>
          <a:noFill/>
          <a:ln w="12700">
            <a:solidFill>
              <a:srgbClr val="5C0D0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686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Próximos pasos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52704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B0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necesitamos del comité para avanzar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84048" y="978408"/>
            <a:ext cx="54864" cy="457200"/>
          </a:xfrm>
          <a:prstGeom prst="rect">
            <a:avLst/>
          </a:prstGeom>
          <a:solidFill>
            <a:srgbClr val="6B0E0E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65960"/>
            <a:ext cx="2072579" cy="4160520"/>
          </a:xfrm>
          <a:prstGeom prst="rect">
            <a:avLst/>
          </a:prstGeom>
          <a:solidFill>
            <a:srgbClr val="F5EFEA"/>
          </a:solidFill>
          <a:ln w="9525">
            <a:solidFill>
              <a:srgbClr val="CFC4B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965960"/>
            <a:ext cx="2072579" cy="777240"/>
          </a:xfrm>
          <a:prstGeom prst="rect">
            <a:avLst/>
          </a:prstGeom>
          <a:solidFill>
            <a:srgbClr val="5C0D0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057400"/>
            <a:ext cx="170681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B89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77240" y="2880360"/>
            <a:ext cx="166109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Publicar en Azure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3657600"/>
            <a:ext cx="1661099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5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Conectar el repo a Azure Static Web Apps y dejar la URL oficial. Tiempo estimado: 1 semana.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77240" y="5577840"/>
            <a:ext cx="1615379" cy="0"/>
          </a:xfrm>
          <a:prstGeom prst="line">
            <a:avLst/>
          </a:prstGeom>
          <a:noFill/>
          <a:ln w="9525">
            <a:solidFill>
              <a:srgbClr val="CFC4B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5623560"/>
            <a:ext cx="166109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5E5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Responsable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77240" y="5833872"/>
            <a:ext cx="166109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0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804099" y="1965960"/>
            <a:ext cx="2072579" cy="4160520"/>
          </a:xfrm>
          <a:prstGeom prst="rect">
            <a:avLst/>
          </a:prstGeom>
          <a:solidFill>
            <a:srgbClr val="F5EFEA"/>
          </a:solidFill>
          <a:ln w="9525">
            <a:solidFill>
              <a:srgbClr val="CFC4B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04099" y="1965960"/>
            <a:ext cx="2072579" cy="777240"/>
          </a:xfrm>
          <a:prstGeom prst="rect">
            <a:avLst/>
          </a:prstGeom>
          <a:solidFill>
            <a:srgbClr val="5C0D0D"/>
          </a:solidFill>
          <a:ln/>
        </p:spPr>
      </p:sp>
      <p:sp>
        <p:nvSpPr>
          <p:cNvPr id="17" name="Text 15"/>
          <p:cNvSpPr/>
          <p:nvPr/>
        </p:nvSpPr>
        <p:spPr>
          <a:xfrm>
            <a:off x="2986979" y="2057400"/>
            <a:ext cx="170681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B89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3032699" y="2880360"/>
            <a:ext cx="166109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Piloto controlado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032699" y="3657600"/>
            <a:ext cx="1661099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5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comité y dos gerentes de proyecto usan Tracción durante un ciclo de L10 completo.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032699" y="5577840"/>
            <a:ext cx="1615379" cy="0"/>
          </a:xfrm>
          <a:prstGeom prst="line">
            <a:avLst/>
          </a:prstGeom>
          <a:noFill/>
          <a:ln w="9525">
            <a:solidFill>
              <a:srgbClr val="CFC4B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32699" y="5623560"/>
            <a:ext cx="166109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5E5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Responsable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032699" y="5833872"/>
            <a:ext cx="166109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0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 + TI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59558" y="1965960"/>
            <a:ext cx="2072579" cy="4160520"/>
          </a:xfrm>
          <a:prstGeom prst="rect">
            <a:avLst/>
          </a:prstGeom>
          <a:solidFill>
            <a:srgbClr val="F5EFEA"/>
          </a:solidFill>
          <a:ln w="9525">
            <a:solidFill>
              <a:srgbClr val="CFC4B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59558" y="1965960"/>
            <a:ext cx="2072579" cy="777240"/>
          </a:xfrm>
          <a:prstGeom prst="rect">
            <a:avLst/>
          </a:prstGeom>
          <a:solidFill>
            <a:srgbClr val="5C0D0D"/>
          </a:solidFill>
          <a:ln/>
        </p:spPr>
      </p:sp>
      <p:sp>
        <p:nvSpPr>
          <p:cNvPr id="25" name="Text 23"/>
          <p:cNvSpPr/>
          <p:nvPr/>
        </p:nvSpPr>
        <p:spPr>
          <a:xfrm>
            <a:off x="5242438" y="2057400"/>
            <a:ext cx="170681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B89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5288158" y="2880360"/>
            <a:ext cx="166109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Cargar datos reales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288158" y="3657600"/>
            <a:ext cx="1661099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5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Volcar el VTO, los rocks del trimestre y el scorecard vigente. Dejar Lotes, RRHH y Jurídico con la data en curso.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288158" y="5577840"/>
            <a:ext cx="1615379" cy="0"/>
          </a:xfrm>
          <a:prstGeom prst="line">
            <a:avLst/>
          </a:prstGeom>
          <a:noFill/>
          <a:ln w="9525">
            <a:solidFill>
              <a:srgbClr val="CFC4B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88158" y="5623560"/>
            <a:ext cx="166109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5E5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Responsable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288158" y="5833872"/>
            <a:ext cx="166109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0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líder de proceso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315017" y="1965960"/>
            <a:ext cx="2072579" cy="4160520"/>
          </a:xfrm>
          <a:prstGeom prst="rect">
            <a:avLst/>
          </a:prstGeom>
          <a:solidFill>
            <a:srgbClr val="F5EFEA"/>
          </a:solidFill>
          <a:ln w="9525">
            <a:solidFill>
              <a:srgbClr val="CFC4B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315017" y="1965960"/>
            <a:ext cx="2072579" cy="777240"/>
          </a:xfrm>
          <a:prstGeom prst="rect">
            <a:avLst/>
          </a:prstGeom>
          <a:solidFill>
            <a:srgbClr val="5C0D0D"/>
          </a:solidFill>
          <a:ln/>
        </p:spPr>
      </p:sp>
      <p:sp>
        <p:nvSpPr>
          <p:cNvPr id="33" name="Text 31"/>
          <p:cNvSpPr/>
          <p:nvPr/>
        </p:nvSpPr>
        <p:spPr>
          <a:xfrm>
            <a:off x="7497897" y="2057400"/>
            <a:ext cx="170681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B89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7543617" y="2880360"/>
            <a:ext cx="166109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Integrar CBR y SharePoint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543617" y="3657600"/>
            <a:ext cx="1661099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5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Conectar Indicadores al CBR productivo y enlazar documentos de obra desde SharePoint.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543617" y="5577840"/>
            <a:ext cx="1615379" cy="0"/>
          </a:xfrm>
          <a:prstGeom prst="line">
            <a:avLst/>
          </a:prstGeom>
          <a:noFill/>
          <a:ln w="9525">
            <a:solidFill>
              <a:srgbClr val="CFC4B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43617" y="5623560"/>
            <a:ext cx="166109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5E5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Responsable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7543617" y="5833872"/>
            <a:ext cx="166109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0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9570476" y="1965960"/>
            <a:ext cx="2072579" cy="4160520"/>
          </a:xfrm>
          <a:prstGeom prst="rect">
            <a:avLst/>
          </a:prstGeom>
          <a:solidFill>
            <a:srgbClr val="F5EFEA"/>
          </a:solidFill>
          <a:ln w="9525">
            <a:solidFill>
              <a:srgbClr val="CFC4B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570476" y="1965960"/>
            <a:ext cx="2072579" cy="777240"/>
          </a:xfrm>
          <a:prstGeom prst="rect">
            <a:avLst/>
          </a:prstGeom>
          <a:solidFill>
            <a:srgbClr val="5C0D0D"/>
          </a:solidFill>
          <a:ln/>
        </p:spPr>
      </p:sp>
      <p:sp>
        <p:nvSpPr>
          <p:cNvPr id="41" name="Text 39"/>
          <p:cNvSpPr/>
          <p:nvPr/>
        </p:nvSpPr>
        <p:spPr>
          <a:xfrm>
            <a:off x="9753356" y="2057400"/>
            <a:ext cx="170681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B890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3000" dirty="0"/>
          </a:p>
        </p:txBody>
      </p:sp>
      <p:sp>
        <p:nvSpPr>
          <p:cNvPr id="42" name="Text 40"/>
          <p:cNvSpPr/>
          <p:nvPr/>
        </p:nvSpPr>
        <p:spPr>
          <a:xfrm>
            <a:off x="9799076" y="2880360"/>
            <a:ext cx="166109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Rollout a la junta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9799076" y="3657600"/>
            <a:ext cx="1661099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5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Reemplazar el tablero de control en Excel por el dashboard de Tracción en la próxima junta directiva.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9799076" y="5577840"/>
            <a:ext cx="1615379" cy="0"/>
          </a:xfrm>
          <a:prstGeom prst="line">
            <a:avLst/>
          </a:prstGeom>
          <a:noFill/>
          <a:ln w="9525">
            <a:solidFill>
              <a:srgbClr val="CFC4B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799076" y="5623560"/>
            <a:ext cx="166109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5E5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Responsable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9799076" y="5833872"/>
            <a:ext cx="166109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0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Comité Gerentes</a:t>
            </a:r>
            <a:endParaRPr lang="en-US" sz="1100" dirty="0"/>
          </a:p>
        </p:txBody>
      </p:sp>
      <p:pic>
        <p:nvPicPr>
          <p:cNvPr id="47" name="Image 0" descr="/sessions/gifted-amazing-babbage/work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65815" y="5916168"/>
            <a:ext cx="777240" cy="685800"/>
          </a:xfrm>
          <a:prstGeom prst="rect">
            <a:avLst/>
          </a:prstGeom>
        </p:spPr>
      </p:pic>
      <p:sp>
        <p:nvSpPr>
          <p:cNvPr id="48" name="Text 4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5E5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 constructora  ·  comité gerentes  ·  abril 2026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9951415" y="63550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6B0E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gifted-amazing-babbage/work/cover_clean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345375" y="41148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5C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años construyendo más que edificios,</a:t>
            </a:r>
            <a:endParaRPr lang="en-US" sz="1200" dirty="0"/>
          </a:p>
          <a:p>
            <a:pPr algn="r" indent="0" marL="0">
              <a:buNone/>
            </a:pPr>
            <a:r>
              <a:rPr lang="en-US" sz="1200" i="1" dirty="0">
                <a:solidFill>
                  <a:srgbClr val="5C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construyendo historias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2651760"/>
            <a:ext cx="6583680" cy="2103120"/>
          </a:xfrm>
          <a:prstGeom prst="rect">
            <a:avLst/>
          </a:prstGeom>
          <a:solidFill>
            <a:srgbClr val="5C0D0D"/>
          </a:solidFill>
          <a:ln/>
        </p:spPr>
      </p:sp>
      <p:sp>
        <p:nvSpPr>
          <p:cNvPr id="6" name="Shape 3"/>
          <p:cNvSpPr/>
          <p:nvPr/>
        </p:nvSpPr>
        <p:spPr>
          <a:xfrm>
            <a:off x="0" y="2651760"/>
            <a:ext cx="137160" cy="2103120"/>
          </a:xfrm>
          <a:prstGeom prst="rect">
            <a:avLst/>
          </a:prstGeom>
          <a:solidFill>
            <a:srgbClr val="B89047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2788920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spc="8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GRACIAS</a:t>
            </a:r>
            <a:endParaRPr lang="en-US" sz="6800" dirty="0"/>
          </a:p>
        </p:txBody>
      </p:sp>
      <p:sp>
        <p:nvSpPr>
          <p:cNvPr id="8" name="Text 5"/>
          <p:cNvSpPr/>
          <p:nvPr/>
        </p:nvSpPr>
        <p:spPr>
          <a:xfrm>
            <a:off x="640080" y="388620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5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Tracción está lista para entrar al día a día del comité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0080" y="429768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B89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Preguntas, observaciones y ajustes son bienvenidos.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55321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5E5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Santa Marta   ·   Bogotá D.C.   ·   Jamundí   ·   Floridablanca   ·   Madrid   ·   Zipaquirá   ·   Pereira   ·   Cali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48640" y="59436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B0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www.icconstructora.co</a:t>
            </a:r>
            <a:endParaRPr lang="en-US" sz="1000" dirty="0"/>
          </a:p>
        </p:txBody>
      </p:sp>
      <p:pic>
        <p:nvPicPr>
          <p:cNvPr id="12" name="Image 1" descr="/sessions/gifted-amazing-babbage/work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5855" y="5806440"/>
            <a:ext cx="822960" cy="731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IC Constructora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Tracción — Plataforma de Gestión EOS</dc:title>
  <dc:subject>PptxGenJS Presentation</dc:subject>
  <dc:creator>IC Constructora</dc:creator>
  <cp:lastModifiedBy>IC Constructora</cp:lastModifiedBy>
  <cp:revision>1</cp:revision>
  <dcterms:created xsi:type="dcterms:W3CDTF">2026-04-23T09:57:50Z</dcterms:created>
  <dcterms:modified xsi:type="dcterms:W3CDTF">2026-04-23T09:57:50Z</dcterms:modified>
</cp:coreProperties>
</file>